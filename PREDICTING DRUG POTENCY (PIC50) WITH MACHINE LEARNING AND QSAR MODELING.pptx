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ormorant Garamond Bold Italics" charset="1" panose="00000800000000000000"/>
      <p:regular r:id="rId19"/>
    </p:embeddedFont>
    <p:embeddedFont>
      <p:font typeface="Quicksand" charset="1" panose="00000000000000000000"/>
      <p:regular r:id="rId20"/>
    </p:embeddedFont>
    <p:embeddedFont>
      <p:font typeface="Quicksand Bold"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9358" y="3349493"/>
            <a:ext cx="16229942" cy="2218690"/>
          </a:xfrm>
          <a:prstGeom prst="rect">
            <a:avLst/>
          </a:prstGeom>
        </p:spPr>
        <p:txBody>
          <a:bodyPr anchor="t" rtlCol="false" tIns="0" lIns="0" bIns="0" rIns="0">
            <a:spAutoFit/>
          </a:bodyPr>
          <a:lstStyle/>
          <a:p>
            <a:pPr algn="ctr"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PREDICTING DRUG POTENCY (PIC50) WITH MACHINE LEARNING AND QSAR MODELING</a:t>
            </a:r>
          </a:p>
        </p:txBody>
      </p:sp>
      <p:sp>
        <p:nvSpPr>
          <p:cNvPr name="TextBox 3" id="3"/>
          <p:cNvSpPr txBox="true"/>
          <p:nvPr/>
        </p:nvSpPr>
        <p:spPr>
          <a:xfrm rot="0">
            <a:off x="2737539" y="5831309"/>
            <a:ext cx="12812922" cy="490855"/>
          </a:xfrm>
          <a:prstGeom prst="rect">
            <a:avLst/>
          </a:prstGeom>
        </p:spPr>
        <p:txBody>
          <a:bodyPr anchor="t" rtlCol="false" tIns="0" lIns="0" bIns="0" rIns="0">
            <a:spAutoFit/>
          </a:bodyPr>
          <a:lstStyle/>
          <a:p>
            <a:pPr algn="ctr" marL="0" indent="0" lvl="0">
              <a:lnSpc>
                <a:spcPts val="3919"/>
              </a:lnSpc>
              <a:spcBef>
                <a:spcPct val="0"/>
              </a:spcBef>
            </a:pPr>
            <a:r>
              <a:rPr lang="en-US" sz="2799">
                <a:solidFill>
                  <a:srgbClr val="0F4662"/>
                </a:solidFill>
                <a:latin typeface="Quicksand"/>
                <a:ea typeface="Quicksand"/>
                <a:cs typeface="Quicksand"/>
                <a:sym typeface="Quicksand"/>
              </a:rPr>
              <a:t>By: Albertus, Gabriel, and Rafael</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183102" y="2021318"/>
            <a:ext cx="16230600" cy="8201025"/>
          </a:xfrm>
          <a:prstGeom prst="rect">
            <a:avLst/>
          </a:prstGeom>
        </p:spPr>
        <p:txBody>
          <a:bodyPr anchor="t" rtlCol="false" tIns="0" lIns="0" bIns="0" rIns="0">
            <a:spAutoFit/>
          </a:bodyPr>
          <a:lstStyle/>
          <a:p>
            <a:pPr algn="l">
              <a:lnSpc>
                <a:spcPts val="4079"/>
              </a:lnSpc>
            </a:pPr>
            <a:r>
              <a:rPr lang="en-US" sz="2400">
                <a:solidFill>
                  <a:srgbClr val="0F4662"/>
                </a:solidFill>
                <a:latin typeface="Quicksand"/>
                <a:ea typeface="Quicksand"/>
                <a:cs typeface="Quicksand"/>
                <a:sym typeface="Quicksand"/>
              </a:rPr>
              <a:t>Drug discovery is notoriously expensive, time-consuming, and prone to failure. The traditional approach of high-throughput experimental screening (testing millions of compounds in the lab) is resource-intensive.</a:t>
            </a:r>
          </a:p>
          <a:p>
            <a:pPr algn="l">
              <a:lnSpc>
                <a:spcPts val="4079"/>
              </a:lnSpc>
            </a:pPr>
          </a:p>
          <a:p>
            <a:pPr algn="l">
              <a:lnSpc>
                <a:spcPts val="4079"/>
              </a:lnSpc>
            </a:pPr>
            <a:r>
              <a:rPr lang="en-US" sz="2400">
                <a:solidFill>
                  <a:srgbClr val="0F4662"/>
                </a:solidFill>
                <a:latin typeface="Quicksand"/>
                <a:ea typeface="Quicksand"/>
                <a:cs typeface="Quicksand"/>
                <a:sym typeface="Quicksand"/>
              </a:rPr>
              <a:t>The Challenge: How can we rapidly and cost-effectively predict the precise biological effect (potency) of a new molecule based only on its chemical blueprint?</a:t>
            </a:r>
          </a:p>
          <a:p>
            <a:pPr algn="l">
              <a:lnSpc>
                <a:spcPts val="4079"/>
              </a:lnSpc>
            </a:pPr>
            <a:r>
              <a:rPr lang="en-US" sz="2400">
                <a:solidFill>
                  <a:srgbClr val="0F4662"/>
                </a:solidFill>
                <a:latin typeface="Quicksand"/>
                <a:ea typeface="Quicksand"/>
                <a:cs typeface="Quicksand"/>
                <a:sym typeface="Quicksand"/>
              </a:rPr>
              <a:t>Our Goal is to develop a high-accuracy Supervised Regression Model capable of predicting the potency of a compound quantified by its PIC50 value by extracting and learning patterns from its digital chemical structure. </a:t>
            </a:r>
          </a:p>
          <a:p>
            <a:pPr algn="l">
              <a:lnSpc>
                <a:spcPts val="4079"/>
              </a:lnSpc>
            </a:pPr>
          </a:p>
          <a:p>
            <a:pPr algn="l">
              <a:lnSpc>
                <a:spcPts val="4079"/>
              </a:lnSpc>
            </a:pPr>
            <a:r>
              <a:rPr lang="en-US" sz="2400">
                <a:solidFill>
                  <a:srgbClr val="0F4662"/>
                </a:solidFill>
                <a:latin typeface="Quicksand"/>
                <a:ea typeface="Quicksand"/>
                <a:cs typeface="Quicksand"/>
                <a:sym typeface="Quicksand"/>
              </a:rPr>
              <a:t>Project Significance</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Virtual Screening: Provides a powerful in silico tool to prioritize high-potential drug candidates and filter out inactive compounds before they are synthesized.</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Computational Biology Application: Directly applies algorithmic and data analysis skills to the core problem of Drug–Target Interaction Prediction.</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Helps pharmaceutical research quickly identify promising drug candidates → reducing time and cost</a:t>
            </a:r>
          </a:p>
          <a:p>
            <a:pPr algn="l">
              <a:lnSpc>
                <a:spcPts val="4079"/>
              </a:lnSpc>
            </a:pPr>
          </a:p>
          <a:p>
            <a:pPr algn="l" marL="0" indent="0" lvl="0">
              <a:lnSpc>
                <a:spcPts val="4079"/>
              </a:lnSpc>
            </a:pPr>
          </a:p>
        </p:txBody>
      </p:sp>
      <p:sp>
        <p:nvSpPr>
          <p:cNvPr name="TextBox 3" id="3"/>
          <p:cNvSpPr txBox="true"/>
          <p:nvPr/>
        </p:nvSpPr>
        <p:spPr>
          <a:xfrm rot="0">
            <a:off x="1028700" y="276797"/>
            <a:ext cx="804816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974931"/>
            <a:ext cx="1905000" cy="283369"/>
          </a:xfrm>
          <a:custGeom>
            <a:avLst/>
            <a:gdLst/>
            <a:ahLst/>
            <a:cxnLst/>
            <a:rect r="r" b="b" t="t" l="l"/>
            <a:pathLst>
              <a:path h="283369" w="1905000">
                <a:moveTo>
                  <a:pt x="0" y="0"/>
                </a:moveTo>
                <a:lnTo>
                  <a:pt x="1905000" y="0"/>
                </a:lnTo>
                <a:lnTo>
                  <a:pt x="1905000" y="283369"/>
                </a:lnTo>
                <a:lnTo>
                  <a:pt x="0" y="2833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068693" y="1808306"/>
            <a:ext cx="6190607" cy="5983266"/>
          </a:xfrm>
          <a:custGeom>
            <a:avLst/>
            <a:gdLst/>
            <a:ahLst/>
            <a:cxnLst/>
            <a:rect r="r" b="b" t="t" l="l"/>
            <a:pathLst>
              <a:path h="5983266" w="6190607">
                <a:moveTo>
                  <a:pt x="0" y="0"/>
                </a:moveTo>
                <a:lnTo>
                  <a:pt x="6190607" y="0"/>
                </a:lnTo>
                <a:lnTo>
                  <a:pt x="6190607" y="5983266"/>
                </a:lnTo>
                <a:lnTo>
                  <a:pt x="0" y="5983266"/>
                </a:lnTo>
                <a:lnTo>
                  <a:pt x="0" y="0"/>
                </a:lnTo>
                <a:close/>
              </a:path>
            </a:pathLst>
          </a:custGeom>
          <a:blipFill>
            <a:blip r:embed="rId4"/>
            <a:stretch>
              <a:fillRect l="0" t="0" r="0" b="0"/>
            </a:stretch>
          </a:blipFill>
        </p:spPr>
      </p:sp>
      <p:sp>
        <p:nvSpPr>
          <p:cNvPr name="TextBox 4" id="4"/>
          <p:cNvSpPr txBox="true"/>
          <p:nvPr/>
        </p:nvSpPr>
        <p:spPr>
          <a:xfrm rot="0">
            <a:off x="1028700" y="599709"/>
            <a:ext cx="93902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Dataset</a:t>
            </a:r>
          </a:p>
        </p:txBody>
      </p:sp>
      <p:sp>
        <p:nvSpPr>
          <p:cNvPr name="TextBox 5" id="5"/>
          <p:cNvSpPr txBox="true"/>
          <p:nvPr/>
        </p:nvSpPr>
        <p:spPr>
          <a:xfrm rot="0">
            <a:off x="1028700" y="2823184"/>
            <a:ext cx="6938067" cy="19767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The Dataset comes from CHEMBL with the target name being Tyrosine-Protein Kinase SYK. It is a single protein enzyme that is found in human.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5579303" y="714009"/>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4384" y="9529723"/>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079120"/>
            <a:ext cx="10360241" cy="5742755"/>
          </a:xfrm>
          <a:custGeom>
            <a:avLst/>
            <a:gdLst/>
            <a:ahLst/>
            <a:cxnLst/>
            <a:rect r="r" b="b" t="t" l="l"/>
            <a:pathLst>
              <a:path h="5742755" w="10360241">
                <a:moveTo>
                  <a:pt x="0" y="0"/>
                </a:moveTo>
                <a:lnTo>
                  <a:pt x="10360241" y="0"/>
                </a:lnTo>
                <a:lnTo>
                  <a:pt x="10360241" y="5742756"/>
                </a:lnTo>
                <a:lnTo>
                  <a:pt x="0" y="5742756"/>
                </a:lnTo>
                <a:lnTo>
                  <a:pt x="0" y="0"/>
                </a:lnTo>
                <a:close/>
              </a:path>
            </a:pathLst>
          </a:custGeom>
          <a:blipFill>
            <a:blip r:embed="rId4"/>
            <a:stretch>
              <a:fillRect l="0" t="0" r="0" b="0"/>
            </a:stretch>
          </a:blipFill>
        </p:spPr>
      </p:sp>
      <p:sp>
        <p:nvSpPr>
          <p:cNvPr name="TextBox 5" id="5"/>
          <p:cNvSpPr txBox="true"/>
          <p:nvPr/>
        </p:nvSpPr>
        <p:spPr>
          <a:xfrm rot="0">
            <a:off x="1024384" y="599709"/>
            <a:ext cx="14072064"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Data preprocessing</a:t>
            </a:r>
          </a:p>
        </p:txBody>
      </p:sp>
      <p:sp>
        <p:nvSpPr>
          <p:cNvPr name="TextBox 6" id="6"/>
          <p:cNvSpPr txBox="true"/>
          <p:nvPr/>
        </p:nvSpPr>
        <p:spPr>
          <a:xfrm rot="0">
            <a:off x="12110269" y="2012445"/>
            <a:ext cx="5702854" cy="5443855"/>
          </a:xfrm>
          <a:prstGeom prst="rect">
            <a:avLst/>
          </a:prstGeom>
        </p:spPr>
        <p:txBody>
          <a:bodyPr anchor="t" rtlCol="false" tIns="0" lIns="0" bIns="0" rIns="0">
            <a:spAutoFit/>
          </a:bodyPr>
          <a:lstStyle/>
          <a:p>
            <a:pPr algn="l">
              <a:lnSpc>
                <a:spcPts val="3919"/>
              </a:lnSpc>
            </a:pPr>
            <a:r>
              <a:rPr lang="en-US" sz="2799" b="true">
                <a:solidFill>
                  <a:srgbClr val="0F4662"/>
                </a:solidFill>
                <a:latin typeface="Quicksand Bold"/>
                <a:ea typeface="Quicksand Bold"/>
                <a:cs typeface="Quicksand Bold"/>
                <a:sym typeface="Quicksand Bold"/>
              </a:rPr>
              <a:t>The Dataset is retrieved from </a:t>
            </a:r>
          </a:p>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the ChEMBL dataset, which is then inspected to find information about the dataset and filtered. We then transform the target variable from IC50 to PIC50 as they need to be linear to be fed to the machine learning models. Outliers are then removed by using the IQR method.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AutoShape 2" id="2"/>
          <p:cNvSpPr/>
          <p:nvPr/>
        </p:nvSpPr>
        <p:spPr>
          <a:xfrm>
            <a:off x="1028700" y="9741523"/>
            <a:ext cx="6492240" cy="0"/>
          </a:xfrm>
          <a:prstGeom prst="line">
            <a:avLst/>
          </a:prstGeom>
          <a:ln cap="flat" w="76200">
            <a:solidFill>
              <a:srgbClr val="0F4662"/>
            </a:solidFill>
            <a:prstDash val="solid"/>
            <a:headEnd type="none" len="sm" w="sm"/>
            <a:tailEnd type="none" len="sm" w="sm"/>
          </a:ln>
        </p:spPr>
      </p:sp>
      <p:sp>
        <p:nvSpPr>
          <p:cNvPr name="AutoShape 3" id="3"/>
          <p:cNvSpPr/>
          <p:nvPr/>
        </p:nvSpPr>
        <p:spPr>
          <a:xfrm>
            <a:off x="10767060" y="1028700"/>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1028700" y="1951455"/>
            <a:ext cx="8003552" cy="6409094"/>
          </a:xfrm>
          <a:custGeom>
            <a:avLst/>
            <a:gdLst/>
            <a:ahLst/>
            <a:cxnLst/>
            <a:rect r="r" b="b" t="t" l="l"/>
            <a:pathLst>
              <a:path h="6409094" w="8003552">
                <a:moveTo>
                  <a:pt x="0" y="0"/>
                </a:moveTo>
                <a:lnTo>
                  <a:pt x="8003552" y="0"/>
                </a:lnTo>
                <a:lnTo>
                  <a:pt x="8003552" y="6409094"/>
                </a:lnTo>
                <a:lnTo>
                  <a:pt x="0" y="6409094"/>
                </a:lnTo>
                <a:lnTo>
                  <a:pt x="0" y="0"/>
                </a:lnTo>
                <a:close/>
              </a:path>
            </a:pathLst>
          </a:custGeom>
          <a:blipFill>
            <a:blip r:embed="rId2"/>
            <a:stretch>
              <a:fillRect l="0" t="0" r="0" b="0"/>
            </a:stretch>
          </a:blipFill>
        </p:spPr>
      </p:sp>
      <p:sp>
        <p:nvSpPr>
          <p:cNvPr name="Freeform 5" id="5"/>
          <p:cNvSpPr/>
          <p:nvPr/>
        </p:nvSpPr>
        <p:spPr>
          <a:xfrm flipH="false" flipV="false" rot="0">
            <a:off x="9369257" y="1951455"/>
            <a:ext cx="7890043" cy="4822789"/>
          </a:xfrm>
          <a:custGeom>
            <a:avLst/>
            <a:gdLst/>
            <a:ahLst/>
            <a:cxnLst/>
            <a:rect r="r" b="b" t="t" l="l"/>
            <a:pathLst>
              <a:path h="4822789" w="7890043">
                <a:moveTo>
                  <a:pt x="0" y="0"/>
                </a:moveTo>
                <a:lnTo>
                  <a:pt x="7890043" y="0"/>
                </a:lnTo>
                <a:lnTo>
                  <a:pt x="7890043" y="4822788"/>
                </a:lnTo>
                <a:lnTo>
                  <a:pt x="0" y="4822788"/>
                </a:lnTo>
                <a:lnTo>
                  <a:pt x="0" y="0"/>
                </a:lnTo>
                <a:close/>
              </a:path>
            </a:pathLst>
          </a:custGeom>
          <a:blipFill>
            <a:blip r:embed="rId3"/>
            <a:stretch>
              <a:fillRect l="0" t="0" r="0" b="0"/>
            </a:stretch>
          </a:blipFill>
        </p:spPr>
      </p:sp>
      <p:sp>
        <p:nvSpPr>
          <p:cNvPr name="TextBox 6" id="6"/>
          <p:cNvSpPr txBox="true"/>
          <p:nvPr/>
        </p:nvSpPr>
        <p:spPr>
          <a:xfrm rot="0">
            <a:off x="1028700" y="599709"/>
            <a:ext cx="9480749"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EDA</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1028700" y="599709"/>
            <a:ext cx="7980267"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Machine Learning Models </a:t>
            </a:r>
          </a:p>
        </p:txBody>
      </p:sp>
      <p:sp>
        <p:nvSpPr>
          <p:cNvPr name="TextBox 6" id="6"/>
          <p:cNvSpPr txBox="true"/>
          <p:nvPr/>
        </p:nvSpPr>
        <p:spPr>
          <a:xfrm rot="0">
            <a:off x="1028700" y="2434248"/>
            <a:ext cx="10527757" cy="10001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Ability toefficiently handle complex relationships and deliver high predictive accuracy </a:t>
            </a:r>
          </a:p>
        </p:txBody>
      </p:sp>
      <p:sp>
        <p:nvSpPr>
          <p:cNvPr name="TextBox 7" id="7"/>
          <p:cNvSpPr txBox="true"/>
          <p:nvPr/>
        </p:nvSpPr>
        <p:spPr>
          <a:xfrm rot="0">
            <a:off x="1028700" y="6123153"/>
            <a:ext cx="10527757" cy="10001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Ability to produce an accurate predictive model as it handles linear data perfectly for prediction</a:t>
            </a:r>
          </a:p>
        </p:txBody>
      </p:sp>
      <p:sp>
        <p:nvSpPr>
          <p:cNvPr name="TextBox 8" id="8"/>
          <p:cNvSpPr txBox="true"/>
          <p:nvPr/>
        </p:nvSpPr>
        <p:spPr>
          <a:xfrm rot="0">
            <a:off x="1028700" y="7694333"/>
            <a:ext cx="10527757" cy="10001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Ability to analyze data effectively, whether the relationships are linear or non-linear</a:t>
            </a:r>
          </a:p>
        </p:txBody>
      </p:sp>
      <p:sp>
        <p:nvSpPr>
          <p:cNvPr name="TextBox 9" id="9"/>
          <p:cNvSpPr txBox="true"/>
          <p:nvPr/>
        </p:nvSpPr>
        <p:spPr>
          <a:xfrm rot="0">
            <a:off x="1028700" y="1914818"/>
            <a:ext cx="1052775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XGBoost</a:t>
            </a:r>
          </a:p>
        </p:txBody>
      </p:sp>
      <p:sp>
        <p:nvSpPr>
          <p:cNvPr name="TextBox 10" id="10"/>
          <p:cNvSpPr txBox="true"/>
          <p:nvPr/>
        </p:nvSpPr>
        <p:spPr>
          <a:xfrm rot="0">
            <a:off x="1028700" y="5340515"/>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F4662"/>
                </a:solidFill>
                <a:latin typeface="Quicksand Bold"/>
                <a:ea typeface="Quicksand Bold"/>
                <a:cs typeface="Quicksand Bold"/>
                <a:sym typeface="Quicksand Bold"/>
              </a:rPr>
              <a:t>Artifical Neural Network</a:t>
            </a:r>
          </a:p>
        </p:txBody>
      </p:sp>
      <p:sp>
        <p:nvSpPr>
          <p:cNvPr name="TextBox 11" id="11"/>
          <p:cNvSpPr txBox="true"/>
          <p:nvPr/>
        </p:nvSpPr>
        <p:spPr>
          <a:xfrm rot="0">
            <a:off x="1028700" y="7102640"/>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F4662"/>
                </a:solidFill>
                <a:latin typeface="Quicksand Bold"/>
                <a:ea typeface="Quicksand Bold"/>
                <a:cs typeface="Quicksand Bold"/>
                <a:sym typeface="Quicksand Bold"/>
              </a:rPr>
              <a:t>Random Forest</a:t>
            </a:r>
          </a:p>
        </p:txBody>
      </p:sp>
      <p:sp>
        <p:nvSpPr>
          <p:cNvPr name="TextBox 12" id="12"/>
          <p:cNvSpPr txBox="true"/>
          <p:nvPr/>
        </p:nvSpPr>
        <p:spPr>
          <a:xfrm rot="0">
            <a:off x="1028700" y="3586773"/>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F4662"/>
                </a:solidFill>
                <a:latin typeface="Quicksand Bold"/>
                <a:ea typeface="Quicksand Bold"/>
                <a:cs typeface="Quicksand Bold"/>
                <a:sym typeface="Quicksand Bold"/>
              </a:rPr>
              <a:t>CatBoost</a:t>
            </a:r>
          </a:p>
        </p:txBody>
      </p:sp>
      <p:sp>
        <p:nvSpPr>
          <p:cNvPr name="TextBox 13" id="13"/>
          <p:cNvSpPr txBox="true"/>
          <p:nvPr/>
        </p:nvSpPr>
        <p:spPr>
          <a:xfrm rot="0">
            <a:off x="1028700" y="4323373"/>
            <a:ext cx="10527757" cy="10001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Ability to intelligently select feature combinations that may enhance the model's performance and efficient</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8700" y="599709"/>
            <a:ext cx="11537525"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Evaluation Metrics</a:t>
            </a:r>
          </a:p>
        </p:txBody>
      </p:sp>
      <p:sp>
        <p:nvSpPr>
          <p:cNvPr name="TextBox 3" id="3"/>
          <p:cNvSpPr txBox="true"/>
          <p:nvPr/>
        </p:nvSpPr>
        <p:spPr>
          <a:xfrm rot="0">
            <a:off x="1028700" y="2105578"/>
            <a:ext cx="14334321" cy="3348990"/>
          </a:xfrm>
          <a:prstGeom prst="rect">
            <a:avLst/>
          </a:prstGeom>
        </p:spPr>
        <p:txBody>
          <a:bodyPr anchor="t" rtlCol="false" tIns="0" lIns="0" bIns="0" rIns="0">
            <a:spAutoFit/>
          </a:bodyPr>
          <a:lstStyle/>
          <a:p>
            <a:pPr algn="l">
              <a:lnSpc>
                <a:spcPts val="3359"/>
              </a:lnSpc>
            </a:pPr>
            <a:r>
              <a:rPr lang="en-US" sz="2400">
                <a:solidFill>
                  <a:srgbClr val="0F4662"/>
                </a:solidFill>
                <a:latin typeface="Quicksand"/>
                <a:ea typeface="Quicksand"/>
                <a:cs typeface="Quicksand"/>
                <a:sym typeface="Quicksand"/>
              </a:rPr>
              <a:t>R2 Score:  Shows how much variance the model explains; measures fit to the regression line.</a:t>
            </a:r>
          </a:p>
          <a:p>
            <a:pPr algn="l">
              <a:lnSpc>
                <a:spcPts val="3359"/>
              </a:lnSpc>
            </a:pPr>
          </a:p>
          <a:p>
            <a:pPr algn="l">
              <a:lnSpc>
                <a:spcPts val="3359"/>
              </a:lnSpc>
            </a:pPr>
            <a:r>
              <a:rPr lang="en-US" sz="2400">
                <a:solidFill>
                  <a:srgbClr val="0F4662"/>
                </a:solidFill>
                <a:latin typeface="Quicksand"/>
                <a:ea typeface="Quicksand"/>
                <a:cs typeface="Quicksand"/>
                <a:sym typeface="Quicksand"/>
              </a:rPr>
              <a:t>Mean Squared Error (MSE): Average squared difference between predictions and actual values; sensitive to large errors.</a:t>
            </a:r>
          </a:p>
          <a:p>
            <a:pPr algn="l">
              <a:lnSpc>
                <a:spcPts val="3359"/>
              </a:lnSpc>
            </a:pPr>
          </a:p>
          <a:p>
            <a:pPr algn="l">
              <a:lnSpc>
                <a:spcPts val="3359"/>
              </a:lnSpc>
            </a:pPr>
            <a:r>
              <a:rPr lang="en-US" sz="2400">
                <a:solidFill>
                  <a:srgbClr val="0F4662"/>
                </a:solidFill>
                <a:latin typeface="Quicksand"/>
                <a:ea typeface="Quicksand"/>
                <a:cs typeface="Quicksand"/>
                <a:sym typeface="Quicksand"/>
              </a:rPr>
              <a:t>Mean Average Error: Average absolute difference between predictions and actual values; less sensitive to outliers and easy to interpret</a:t>
            </a:r>
          </a:p>
          <a:p>
            <a:pPr algn="l">
              <a:lnSpc>
                <a:spcPts val="33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BE5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448195" cy="4386319"/>
          </a:xfrm>
          <a:custGeom>
            <a:avLst/>
            <a:gdLst/>
            <a:ahLst/>
            <a:cxnLst/>
            <a:rect r="r" b="b" t="t" l="l"/>
            <a:pathLst>
              <a:path h="4386319" w="4448195">
                <a:moveTo>
                  <a:pt x="0" y="0"/>
                </a:moveTo>
                <a:lnTo>
                  <a:pt x="4448195" y="0"/>
                </a:lnTo>
                <a:lnTo>
                  <a:pt x="4448195" y="4386319"/>
                </a:lnTo>
                <a:lnTo>
                  <a:pt x="0" y="4386319"/>
                </a:lnTo>
                <a:lnTo>
                  <a:pt x="0" y="0"/>
                </a:lnTo>
                <a:close/>
              </a:path>
            </a:pathLst>
          </a:custGeom>
          <a:blipFill>
            <a:blip r:embed="rId2"/>
            <a:stretch>
              <a:fillRect l="0" t="0" r="0" b="0"/>
            </a:stretch>
          </a:blipFill>
        </p:spPr>
      </p:sp>
      <p:sp>
        <p:nvSpPr>
          <p:cNvPr name="Freeform 3" id="3"/>
          <p:cNvSpPr/>
          <p:nvPr/>
        </p:nvSpPr>
        <p:spPr>
          <a:xfrm flipH="false" flipV="false" rot="0">
            <a:off x="6191995" y="1028700"/>
            <a:ext cx="4416544" cy="4444104"/>
          </a:xfrm>
          <a:custGeom>
            <a:avLst/>
            <a:gdLst/>
            <a:ahLst/>
            <a:cxnLst/>
            <a:rect r="r" b="b" t="t" l="l"/>
            <a:pathLst>
              <a:path h="4444104" w="4416544">
                <a:moveTo>
                  <a:pt x="0" y="0"/>
                </a:moveTo>
                <a:lnTo>
                  <a:pt x="4416544" y="0"/>
                </a:lnTo>
                <a:lnTo>
                  <a:pt x="4416544" y="4444104"/>
                </a:lnTo>
                <a:lnTo>
                  <a:pt x="0" y="4444104"/>
                </a:lnTo>
                <a:lnTo>
                  <a:pt x="0" y="0"/>
                </a:lnTo>
                <a:close/>
              </a:path>
            </a:pathLst>
          </a:custGeom>
          <a:blipFill>
            <a:blip r:embed="rId3"/>
            <a:stretch>
              <a:fillRect l="0" t="0" r="0" b="0"/>
            </a:stretch>
          </a:blipFill>
        </p:spPr>
      </p:sp>
      <p:sp>
        <p:nvSpPr>
          <p:cNvPr name="Freeform 4" id="4"/>
          <p:cNvSpPr/>
          <p:nvPr/>
        </p:nvSpPr>
        <p:spPr>
          <a:xfrm flipH="false" flipV="false" rot="0">
            <a:off x="6088790" y="5648854"/>
            <a:ext cx="4622955" cy="4462096"/>
          </a:xfrm>
          <a:custGeom>
            <a:avLst/>
            <a:gdLst/>
            <a:ahLst/>
            <a:cxnLst/>
            <a:rect r="r" b="b" t="t" l="l"/>
            <a:pathLst>
              <a:path h="4462096" w="4622955">
                <a:moveTo>
                  <a:pt x="0" y="0"/>
                </a:moveTo>
                <a:lnTo>
                  <a:pt x="4622955" y="0"/>
                </a:lnTo>
                <a:lnTo>
                  <a:pt x="4622955" y="4462096"/>
                </a:lnTo>
                <a:lnTo>
                  <a:pt x="0" y="4462096"/>
                </a:lnTo>
                <a:lnTo>
                  <a:pt x="0" y="0"/>
                </a:lnTo>
                <a:close/>
              </a:path>
            </a:pathLst>
          </a:custGeom>
          <a:blipFill>
            <a:blip r:embed="rId4"/>
            <a:stretch>
              <a:fillRect l="0" t="0" r="0" b="0"/>
            </a:stretch>
          </a:blipFill>
        </p:spPr>
      </p:sp>
      <p:sp>
        <p:nvSpPr>
          <p:cNvPr name="Freeform 5" id="5"/>
          <p:cNvSpPr/>
          <p:nvPr/>
        </p:nvSpPr>
        <p:spPr>
          <a:xfrm flipH="false" flipV="false" rot="0">
            <a:off x="1028700" y="5648854"/>
            <a:ext cx="4448195" cy="4462096"/>
          </a:xfrm>
          <a:custGeom>
            <a:avLst/>
            <a:gdLst/>
            <a:ahLst/>
            <a:cxnLst/>
            <a:rect r="r" b="b" t="t" l="l"/>
            <a:pathLst>
              <a:path h="4462096" w="4448195">
                <a:moveTo>
                  <a:pt x="0" y="0"/>
                </a:moveTo>
                <a:lnTo>
                  <a:pt x="4448195" y="0"/>
                </a:lnTo>
                <a:lnTo>
                  <a:pt x="4448195" y="4462096"/>
                </a:lnTo>
                <a:lnTo>
                  <a:pt x="0" y="4462096"/>
                </a:lnTo>
                <a:lnTo>
                  <a:pt x="0" y="0"/>
                </a:lnTo>
                <a:close/>
              </a:path>
            </a:pathLst>
          </a:custGeom>
          <a:blipFill>
            <a:blip r:embed="rId5"/>
            <a:stretch>
              <a:fillRect l="0" t="0" r="0" b="0"/>
            </a:stretch>
          </a:blipFill>
        </p:spPr>
      </p:sp>
      <p:sp>
        <p:nvSpPr>
          <p:cNvPr name="Freeform 6" id="6"/>
          <p:cNvSpPr/>
          <p:nvPr/>
        </p:nvSpPr>
        <p:spPr>
          <a:xfrm flipH="false" flipV="false" rot="0">
            <a:off x="11426120" y="4109600"/>
            <a:ext cx="6086431" cy="2153075"/>
          </a:xfrm>
          <a:custGeom>
            <a:avLst/>
            <a:gdLst/>
            <a:ahLst/>
            <a:cxnLst/>
            <a:rect r="r" b="b" t="t" l="l"/>
            <a:pathLst>
              <a:path h="2153075" w="6086431">
                <a:moveTo>
                  <a:pt x="0" y="0"/>
                </a:moveTo>
                <a:lnTo>
                  <a:pt x="6086431" y="0"/>
                </a:lnTo>
                <a:lnTo>
                  <a:pt x="6086431" y="2153075"/>
                </a:lnTo>
                <a:lnTo>
                  <a:pt x="0" y="2153075"/>
                </a:lnTo>
                <a:lnTo>
                  <a:pt x="0" y="0"/>
                </a:lnTo>
                <a:close/>
              </a:path>
            </a:pathLst>
          </a:custGeom>
          <a:blipFill>
            <a:blip r:embed="rId6"/>
            <a:stretch>
              <a:fillRect l="0" t="0" r="0" b="0"/>
            </a:stretch>
          </a:blipFill>
        </p:spPr>
      </p:sp>
      <p:sp>
        <p:nvSpPr>
          <p:cNvPr name="TextBox 7" id="7"/>
          <p:cNvSpPr txBox="true"/>
          <p:nvPr/>
        </p:nvSpPr>
        <p:spPr>
          <a:xfrm rot="0">
            <a:off x="1028700" y="-114300"/>
            <a:ext cx="1032659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Result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BE5E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762350"/>
            <a:ext cx="16230600" cy="7161752"/>
          </a:xfrm>
          <a:custGeom>
            <a:avLst/>
            <a:gdLst/>
            <a:ahLst/>
            <a:cxnLst/>
            <a:rect r="r" b="b" t="t" l="l"/>
            <a:pathLst>
              <a:path h="7161752" w="16230600">
                <a:moveTo>
                  <a:pt x="0" y="0"/>
                </a:moveTo>
                <a:lnTo>
                  <a:pt x="16230600" y="0"/>
                </a:lnTo>
                <a:lnTo>
                  <a:pt x="16230600" y="7161753"/>
                </a:lnTo>
                <a:lnTo>
                  <a:pt x="0" y="7161753"/>
                </a:lnTo>
                <a:lnTo>
                  <a:pt x="0" y="0"/>
                </a:lnTo>
                <a:close/>
              </a:path>
            </a:pathLst>
          </a:custGeom>
          <a:blipFill>
            <a:blip r:embed="rId2"/>
            <a:stretch>
              <a:fillRect l="0" t="0" r="0" b="0"/>
            </a:stretch>
          </a:blipFill>
        </p:spPr>
      </p:sp>
      <p:sp>
        <p:nvSpPr>
          <p:cNvPr name="TextBox 3" id="3"/>
          <p:cNvSpPr txBox="true"/>
          <p:nvPr/>
        </p:nvSpPr>
        <p:spPr>
          <a:xfrm rot="0">
            <a:off x="1028700" y="428942"/>
            <a:ext cx="1032659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Contributions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BE5EA"/>
        </a:solidFill>
      </p:bgPr>
    </p:bg>
    <p:spTree>
      <p:nvGrpSpPr>
        <p:cNvPr id="1" name=""/>
        <p:cNvGrpSpPr/>
        <p:nvPr/>
      </p:nvGrpSpPr>
      <p:grpSpPr>
        <a:xfrm>
          <a:off x="0" y="0"/>
          <a:ext cx="0" cy="0"/>
          <a:chOff x="0" y="0"/>
          <a:chExt cx="0" cy="0"/>
        </a:xfrm>
      </p:grpSpPr>
      <p:sp>
        <p:nvSpPr>
          <p:cNvPr name="Freeform 2" id="2"/>
          <p:cNvSpPr/>
          <p:nvPr/>
        </p:nvSpPr>
        <p:spPr>
          <a:xfrm flipH="false" flipV="false" rot="0">
            <a:off x="1202824" y="1668411"/>
            <a:ext cx="14258776" cy="8056209"/>
          </a:xfrm>
          <a:custGeom>
            <a:avLst/>
            <a:gdLst/>
            <a:ahLst/>
            <a:cxnLst/>
            <a:rect r="r" b="b" t="t" l="l"/>
            <a:pathLst>
              <a:path h="8056209" w="14258776">
                <a:moveTo>
                  <a:pt x="0" y="0"/>
                </a:moveTo>
                <a:lnTo>
                  <a:pt x="14258776" y="0"/>
                </a:lnTo>
                <a:lnTo>
                  <a:pt x="14258776" y="8056209"/>
                </a:lnTo>
                <a:lnTo>
                  <a:pt x="0" y="8056209"/>
                </a:lnTo>
                <a:lnTo>
                  <a:pt x="0" y="0"/>
                </a:lnTo>
                <a:close/>
              </a:path>
            </a:pathLst>
          </a:custGeom>
          <a:blipFill>
            <a:blip r:embed="rId2"/>
            <a:stretch>
              <a:fillRect l="0" t="0" r="0" b="0"/>
            </a:stretch>
          </a:blipFill>
        </p:spPr>
      </p:sp>
      <p:sp>
        <p:nvSpPr>
          <p:cNvPr name="TextBox 3" id="3"/>
          <p:cNvSpPr txBox="true"/>
          <p:nvPr/>
        </p:nvSpPr>
        <p:spPr>
          <a:xfrm rot="0">
            <a:off x="1028700" y="428942"/>
            <a:ext cx="1032659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Visual Timeline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4216588" y="4770234"/>
            <a:ext cx="1153482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PROJECT DEMONSTRATION</a:t>
            </a:r>
          </a:p>
        </p:txBody>
      </p:sp>
      <p:sp>
        <p:nvSpPr>
          <p:cNvPr name="AutoShape 3" id="3"/>
          <p:cNvSpPr/>
          <p:nvPr/>
        </p:nvSpPr>
        <p:spPr>
          <a:xfrm>
            <a:off x="5897880" y="3568974"/>
            <a:ext cx="6492240" cy="0"/>
          </a:xfrm>
          <a:prstGeom prst="line">
            <a:avLst/>
          </a:prstGeom>
          <a:ln cap="flat" w="76200">
            <a:solidFill>
              <a:srgbClr val="0F4662"/>
            </a:solidFill>
            <a:prstDash val="solid"/>
            <a:headEnd type="none" len="sm" w="sm"/>
            <a:tailEnd type="none" len="sm" w="sm"/>
          </a:ln>
        </p:spPr>
      </p:sp>
      <p:sp>
        <p:nvSpPr>
          <p:cNvPr name="AutoShape 4" id="4"/>
          <p:cNvSpPr/>
          <p:nvPr/>
        </p:nvSpPr>
        <p:spPr>
          <a:xfrm>
            <a:off x="5897880" y="7171009"/>
            <a:ext cx="6492240"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8304001" y="2470557"/>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304001" y="8019527"/>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8700" y="599709"/>
            <a:ext cx="1153482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Conclusion</a:t>
            </a:r>
          </a:p>
        </p:txBody>
      </p:sp>
      <p:sp>
        <p:nvSpPr>
          <p:cNvPr name="TextBox 3" id="3"/>
          <p:cNvSpPr txBox="true"/>
          <p:nvPr/>
        </p:nvSpPr>
        <p:spPr>
          <a:xfrm rot="0">
            <a:off x="1028700" y="1771650"/>
            <a:ext cx="10655487" cy="7899400"/>
          </a:xfrm>
          <a:prstGeom prst="rect">
            <a:avLst/>
          </a:prstGeom>
        </p:spPr>
        <p:txBody>
          <a:bodyPr anchor="t" rtlCol="false" tIns="0" lIns="0" bIns="0" rIns="0">
            <a:spAutoFit/>
          </a:bodyPr>
          <a:lstStyle/>
          <a:p>
            <a:pPr algn="just">
              <a:lnSpc>
                <a:spcPts val="3740"/>
              </a:lnSpc>
            </a:pPr>
            <a:r>
              <a:rPr lang="en-US" sz="2200">
                <a:solidFill>
                  <a:srgbClr val="0F4662"/>
                </a:solidFill>
                <a:latin typeface="Quicksand"/>
                <a:ea typeface="Quicksand"/>
                <a:cs typeface="Quicksand"/>
                <a:sym typeface="Quicksand"/>
              </a:rPr>
              <a:t>Goal: Predict pIC50 values of SYK kinase inhibitors using QSAR models</a:t>
            </a:r>
          </a:p>
          <a:p>
            <a:pPr algn="just">
              <a:lnSpc>
                <a:spcPts val="3740"/>
              </a:lnSpc>
            </a:pPr>
          </a:p>
          <a:p>
            <a:pPr algn="just">
              <a:lnSpc>
                <a:spcPts val="3740"/>
              </a:lnSpc>
            </a:pPr>
            <a:r>
              <a:rPr lang="en-US" sz="2200">
                <a:solidFill>
                  <a:srgbClr val="0F4662"/>
                </a:solidFill>
                <a:latin typeface="Quicksand"/>
                <a:ea typeface="Quicksand"/>
                <a:cs typeface="Quicksand"/>
                <a:sym typeface="Quicksand"/>
              </a:rPr>
              <a:t>Best Model: </a:t>
            </a:r>
          </a:p>
          <a:p>
            <a:pPr algn="just" marL="474981" indent="-237491" lvl="1">
              <a:lnSpc>
                <a:spcPts val="3740"/>
              </a:lnSpc>
              <a:buFont typeface="Arial"/>
              <a:buChar char="•"/>
            </a:pPr>
            <a:r>
              <a:rPr lang="en-US" sz="2200">
                <a:solidFill>
                  <a:srgbClr val="0F4662"/>
                </a:solidFill>
                <a:latin typeface="Quicksand"/>
                <a:ea typeface="Quicksand"/>
                <a:cs typeface="Quicksand"/>
                <a:sym typeface="Quicksand"/>
              </a:rPr>
              <a:t>XGBoost (Test R² = 0.696).</a:t>
            </a:r>
          </a:p>
          <a:p>
            <a:pPr algn="just">
              <a:lnSpc>
                <a:spcPts val="3740"/>
              </a:lnSpc>
            </a:pPr>
            <a:r>
              <a:rPr lang="en-US" sz="2200">
                <a:solidFill>
                  <a:srgbClr val="0F4662"/>
                </a:solidFill>
                <a:latin typeface="Quicksand"/>
                <a:ea typeface="Quicksand"/>
                <a:cs typeface="Quicksand"/>
                <a:sym typeface="Quicksand"/>
              </a:rPr>
              <a:t>Insights: Strong negative correlation between lipophilicity and ligand efficiency (BEI, LE) → guides optimization.</a:t>
            </a:r>
          </a:p>
          <a:p>
            <a:pPr algn="just">
              <a:lnSpc>
                <a:spcPts val="3740"/>
              </a:lnSpc>
            </a:pPr>
          </a:p>
          <a:p>
            <a:pPr algn="just">
              <a:lnSpc>
                <a:spcPts val="3740"/>
              </a:lnSpc>
            </a:pPr>
            <a:r>
              <a:rPr lang="en-US" sz="2200">
                <a:solidFill>
                  <a:srgbClr val="0F4662"/>
                </a:solidFill>
                <a:latin typeface="Quicksand"/>
                <a:ea typeface="Quicksand"/>
                <a:cs typeface="Quicksand"/>
                <a:sym typeface="Quicksand"/>
              </a:rPr>
              <a:t>Contributions:</a:t>
            </a:r>
          </a:p>
          <a:p>
            <a:pPr algn="just" marL="474981" indent="-237491" lvl="1">
              <a:lnSpc>
                <a:spcPts val="3740"/>
              </a:lnSpc>
              <a:buFont typeface="Arial"/>
              <a:buChar char="•"/>
            </a:pPr>
            <a:r>
              <a:rPr lang="en-US" sz="2200">
                <a:solidFill>
                  <a:srgbClr val="0F4662"/>
                </a:solidFill>
                <a:latin typeface="Quicksand"/>
                <a:ea typeface="Quicksand"/>
                <a:cs typeface="Quicksand"/>
                <a:sym typeface="Quicksand"/>
              </a:rPr>
              <a:t>Validated predictive framework for SYK inhibitor potency.</a:t>
            </a:r>
          </a:p>
          <a:p>
            <a:pPr algn="just" marL="474981" indent="-237491" lvl="1">
              <a:lnSpc>
                <a:spcPts val="3740"/>
              </a:lnSpc>
              <a:buFont typeface="Arial"/>
              <a:buChar char="•"/>
            </a:pPr>
            <a:r>
              <a:rPr lang="en-US" sz="2200">
                <a:solidFill>
                  <a:srgbClr val="0F4662"/>
                </a:solidFill>
                <a:latin typeface="Quicksand"/>
                <a:ea typeface="Quicksand"/>
                <a:cs typeface="Quicksand"/>
                <a:sym typeface="Quicksand"/>
              </a:rPr>
              <a:t>Shows effectiveness of ensemble methods in QSAR modeling.</a:t>
            </a:r>
          </a:p>
          <a:p>
            <a:pPr algn="just" marL="474981" indent="-237491" lvl="1">
              <a:lnSpc>
                <a:spcPts val="3740"/>
              </a:lnSpc>
              <a:buFont typeface="Arial"/>
              <a:buChar char="•"/>
            </a:pPr>
            <a:r>
              <a:rPr lang="en-US" sz="2200">
                <a:solidFill>
                  <a:srgbClr val="0F4662"/>
                </a:solidFill>
                <a:latin typeface="Quicksand"/>
                <a:ea typeface="Quicksand"/>
                <a:cs typeface="Quicksand"/>
                <a:sym typeface="Quicksand"/>
              </a:rPr>
              <a:t>Identifies molecular features affecting potency and efficiency.</a:t>
            </a:r>
          </a:p>
          <a:p>
            <a:pPr algn="just">
              <a:lnSpc>
                <a:spcPts val="3740"/>
              </a:lnSpc>
            </a:pPr>
          </a:p>
          <a:p>
            <a:pPr algn="just">
              <a:lnSpc>
                <a:spcPts val="3740"/>
              </a:lnSpc>
            </a:pPr>
            <a:r>
              <a:rPr lang="en-US" sz="2200">
                <a:solidFill>
                  <a:srgbClr val="0F4662"/>
                </a:solidFill>
                <a:latin typeface="Quicksand"/>
                <a:ea typeface="Quicksand"/>
                <a:cs typeface="Quicksand"/>
                <a:sym typeface="Quicksand"/>
              </a:rPr>
              <a:t>Limitations:</a:t>
            </a:r>
          </a:p>
          <a:p>
            <a:pPr algn="just" marL="474981" indent="-237491" lvl="1">
              <a:lnSpc>
                <a:spcPts val="3740"/>
              </a:lnSpc>
              <a:buFont typeface="Arial"/>
              <a:buChar char="•"/>
            </a:pPr>
            <a:r>
              <a:rPr lang="en-US" sz="2200">
                <a:solidFill>
                  <a:srgbClr val="0F4662"/>
                </a:solidFill>
                <a:latin typeface="Quicksand"/>
                <a:ea typeface="Quicksand"/>
                <a:cs typeface="Quicksand"/>
                <a:sym typeface="Quicksand"/>
              </a:rPr>
              <a:t>Moderate R² → room to improve accuracy.</a:t>
            </a:r>
          </a:p>
          <a:p>
            <a:pPr algn="just" marL="474981" indent="-237491" lvl="1">
              <a:lnSpc>
                <a:spcPts val="3740"/>
              </a:lnSpc>
              <a:buFont typeface="Arial"/>
              <a:buChar char="•"/>
            </a:pPr>
            <a:r>
              <a:rPr lang="en-US" sz="2200">
                <a:solidFill>
                  <a:srgbClr val="0F4662"/>
                </a:solidFill>
                <a:latin typeface="Quicksand"/>
                <a:ea typeface="Quicksand"/>
                <a:cs typeface="Quicksand"/>
                <a:sym typeface="Quicksand"/>
              </a:rPr>
              <a:t>Some overfitting → need for better regularization or larger datasets.</a:t>
            </a:r>
          </a:p>
          <a:p>
            <a:pPr algn="just" marL="474981" indent="-237491" lvl="1">
              <a:lnSpc>
                <a:spcPts val="3740"/>
              </a:lnSpc>
              <a:buFont typeface="Arial"/>
              <a:buChar char="•"/>
            </a:pPr>
            <a:r>
              <a:rPr lang="en-US" sz="2200">
                <a:solidFill>
                  <a:srgbClr val="0F4662"/>
                </a:solidFill>
                <a:latin typeface="Quicksand"/>
                <a:ea typeface="Quicksand"/>
                <a:cs typeface="Quicksand"/>
                <a:sym typeface="Quicksand"/>
              </a:rPr>
              <a:t>Focuses only on potency, not selectivity or ADMET.</a:t>
            </a:r>
          </a:p>
          <a:p>
            <a:pPr algn="ctr" marL="0" indent="0" lvl="0">
              <a:lnSpc>
                <a:spcPts val="3740"/>
              </a:lnSpc>
            </a:pPr>
          </a:p>
        </p:txBody>
      </p:sp>
      <p:sp>
        <p:nvSpPr>
          <p:cNvPr name="AutoShape 4" id="4"/>
          <p:cNvSpPr/>
          <p:nvPr/>
        </p:nvSpPr>
        <p:spPr>
          <a:xfrm>
            <a:off x="10767060" y="9296400"/>
            <a:ext cx="6492240" cy="0"/>
          </a:xfrm>
          <a:prstGeom prst="line">
            <a:avLst/>
          </a:prstGeom>
          <a:ln cap="flat" w="76200">
            <a:solidFill>
              <a:srgbClr val="0F4662"/>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3442710" y="3369664"/>
            <a:ext cx="11402580" cy="3185722"/>
          </a:xfrm>
          <a:prstGeom prst="rect">
            <a:avLst/>
          </a:prstGeom>
        </p:spPr>
        <p:txBody>
          <a:bodyPr anchor="t" rtlCol="false" tIns="0" lIns="0" bIns="0" rIns="0">
            <a:spAutoFit/>
          </a:bodyPr>
          <a:lstStyle/>
          <a:p>
            <a:pPr algn="ctr" marL="0" indent="0" lvl="0">
              <a:lnSpc>
                <a:spcPts val="26009"/>
              </a:lnSpc>
              <a:spcBef>
                <a:spcPct val="0"/>
              </a:spcBef>
            </a:pPr>
            <a:r>
              <a:rPr lang="en-US" b="true" sz="18577" i="true">
                <a:solidFill>
                  <a:srgbClr val="0F4662"/>
                </a:solidFill>
                <a:latin typeface="Cormorant Garamond Bold Italics"/>
                <a:ea typeface="Cormorant Garamond Bold Italics"/>
                <a:cs typeface="Cormorant Garamond Bold Italics"/>
                <a:sym typeface="Cormorant Garamond Bold Italics"/>
              </a:rPr>
              <a:t>Thank you</a:t>
            </a:r>
          </a:p>
        </p:txBody>
      </p:sp>
      <p:sp>
        <p:nvSpPr>
          <p:cNvPr name="AutoShape 3" id="3"/>
          <p:cNvSpPr/>
          <p:nvPr/>
        </p:nvSpPr>
        <p:spPr>
          <a:xfrm>
            <a:off x="5897880" y="2215083"/>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1116666"/>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5897880" y="8159883"/>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8304001" y="900840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DAG5oEjhC7M</dc:identifier>
  <dcterms:modified xsi:type="dcterms:W3CDTF">2011-08-01T06:04:30Z</dcterms:modified>
  <cp:revision>1</cp:revision>
  <dc:title>PREDICTING DRUG POTENCY (PIC50) WITH MACHINE LEARNING AND QSAR MODELING</dc:title>
</cp:coreProperties>
</file>